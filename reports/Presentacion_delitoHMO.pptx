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CC3300"/>
    <a:srgbClr val="FF9900"/>
    <a:srgbClr val="CC9900"/>
    <a:srgbClr val="FF9933"/>
    <a:srgbClr val="CC6600"/>
    <a:srgbClr val="61CBF4"/>
    <a:srgbClr val="FF0000"/>
    <a:srgbClr val="33CC33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8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5E784-3486-6093-CAA0-2FBB056E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BFE4461-C34C-E1EE-33CC-D5AE64D43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95956E-20F9-183E-21D0-1795322F7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AE6DD8-AD75-5610-8156-3D8697855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700DCA-D2E1-739D-7887-15494E43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3748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99803C-CB97-0717-FE55-4E7C12FF7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7413A3-7BD8-B2B4-A10A-88B3D2E97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6A01A8A-3FC4-F856-BF42-4E9CBFA90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1E15528-4B5C-B1C1-D8C7-AFFF511CA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C35A7F-7DF2-301B-B79D-D72DF68C1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50407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8B031-C6DC-08D7-ABDD-2FC65AAA6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1EAC38-BC0F-E7EE-97B0-9244505C7A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BB8D7E-41E8-A7AE-29E8-8685B5670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38243C-7649-0C04-BF97-7B6006CC9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69C508-8FE5-77B1-B9A8-6ECD29EA8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36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7D458-08E3-3689-22C5-38E38BD2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3876D0E-575E-8002-F866-F8C2A10317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140CDC-B4E2-65FA-9B94-9002602E0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EBEA96-9D38-2D7E-009E-C4659DAD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A227797-0586-F927-3CB8-9E2AFD87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A8E71DD-BFFD-BB18-A172-FA3E8384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98018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C7195D-3FF4-0C18-1C63-651E51731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4928DF8-0841-8839-BE7F-502FEB2E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DF2C11E-3BF6-FF2A-C685-43EE09FDBC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8EBE24B-B034-5D78-1406-DBEED1D0DC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7FE3E1F-F791-03C2-B081-949724CFC1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0E9CFC-FAF9-B537-7475-A4E40A124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7DF8CFD-7B0E-D1D3-FE90-3376425B4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3608F8-2E71-A985-6643-1A249B398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1753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3C8EB7-E4E8-6A2A-9963-B098172D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72C36AB-E8AD-48B3-E58B-903517CD4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868445D-73EE-4F88-B49E-806A9196E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90B2BD-1D13-CC08-8468-F281C12A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25035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054B8F-F830-7A96-AEA9-B30BBFD32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AF7A6C9-226E-B93E-B86F-9CF973AC2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375E71-5DD6-DD3B-FE83-B164C4C65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0444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1D5F3C-83D8-795B-66A8-AC39C3E4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A23402-E448-EC8A-C079-C59E79564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C27245E-8D0E-E38C-5296-17EBE9C08C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31594D-36D5-F276-8523-2E022E9C5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AB75B7C-DC72-D4F0-965B-E387CC9C6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9C9EB4-08E7-F4FD-95DF-1D922223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16965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F6477A-42A9-5B6F-EA8D-D9E184619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7829095-CD1C-9FAA-3356-D38036EEF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3D79990-41F4-8240-4FF9-09372D31C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0417AD-61A6-37A9-FC8C-B4F76BA5F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D0A1D1-1371-0149-FE16-0DA4E0876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D0201-0DD3-AE2F-021E-2C321D28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02307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602F82-1F0F-FB86-ED74-A670EBC54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085AC63-F664-B457-BCEB-2D45A4EC4D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8D78E2-0F95-E897-046E-7A70220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8C3619-CB7F-C8EC-40C3-863751044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EA36C4-D390-667A-8DC6-CA8808A2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43306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4C75599-6DF6-5F4F-DE13-D117AA9577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376C000-FCC2-F330-9338-B9DC99129F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838DE9-26BF-B479-40EF-0ACF50F1B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B94122-EA68-1E08-35C1-972C3457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B25FEB-B9F0-471C-B2C8-6E62EEC8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60192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6863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EEA572A-FA47-C3FB-3C01-277D70084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903E89-D668-2A69-5F4E-8F27BEB5F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187D75-E49B-6E2C-D99F-2E1EC014D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009C9-B916-49E4-84E0-6BD5CDDEEAF3}" type="datetimeFigureOut">
              <a:rPr lang="es-MX" smtClean="0"/>
              <a:t>18/11/2025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749676-C4F0-2D16-B8FE-87F6FA53F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64D962-0AF5-3B9C-DD0D-F797FBAA0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3E1A11-89DE-4D7F-BE4A-BCCAD2566A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05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lataformanacionaldetransparencia.org.mx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9" Type="http://schemas.openxmlformats.org/officeDocument/2006/relationships/hyperlink" Target="https://www.plataformanacionaldetransparencia.org.mx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C674A-ED7D-FBA8-0FCD-50CE384E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estría en Ciencia de Datos Unison">
            <a:extLst>
              <a:ext uri="{FF2B5EF4-FFF2-40B4-BE49-F238E27FC236}">
                <a16:creationId xmlns:a16="http://schemas.microsoft.com/office/drawing/2014/main" id="{CB32C674-FB91-1C7F-C009-645AE77612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29" y="4993657"/>
            <a:ext cx="1070096" cy="1070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Elipse 28">
            <a:extLst>
              <a:ext uri="{FF2B5EF4-FFF2-40B4-BE49-F238E27FC236}">
                <a16:creationId xmlns:a16="http://schemas.microsoft.com/office/drawing/2014/main" id="{A640F893-5EDC-5913-823A-1858DF8B4A4B}"/>
              </a:ext>
            </a:extLst>
          </p:cNvPr>
          <p:cNvSpPr/>
          <p:nvPr/>
        </p:nvSpPr>
        <p:spPr>
          <a:xfrm>
            <a:off x="7187381" y="1848465"/>
            <a:ext cx="5686934" cy="5657303"/>
          </a:xfrm>
          <a:prstGeom prst="ellipse">
            <a:avLst/>
          </a:prstGeom>
          <a:solidFill>
            <a:srgbClr val="FFC000">
              <a:alpha val="5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EDBEECD2-1C0D-8EEE-980B-9E065DF96D56}"/>
              </a:ext>
            </a:extLst>
          </p:cNvPr>
          <p:cNvSpPr/>
          <p:nvPr/>
        </p:nvSpPr>
        <p:spPr>
          <a:xfrm>
            <a:off x="5684988" y="4292124"/>
            <a:ext cx="2552499" cy="2556113"/>
          </a:xfrm>
          <a:prstGeom prst="ellipse">
            <a:avLst/>
          </a:prstGeom>
          <a:solidFill>
            <a:srgbClr val="FF0000">
              <a:alpha val="4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B5265E3E-2972-BE0D-23E1-63FB3438EB70}"/>
              </a:ext>
            </a:extLst>
          </p:cNvPr>
          <p:cNvSpPr/>
          <p:nvPr/>
        </p:nvSpPr>
        <p:spPr>
          <a:xfrm>
            <a:off x="10324198" y="31192"/>
            <a:ext cx="2507492" cy="2554902"/>
          </a:xfrm>
          <a:prstGeom prst="ellipse">
            <a:avLst/>
          </a:prstGeom>
          <a:solidFill>
            <a:srgbClr val="0070C0">
              <a:alpha val="5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2EB17F-1FD0-1453-396C-5E215095B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929" y="1248697"/>
            <a:ext cx="6784258" cy="2953109"/>
          </a:xfrm>
        </p:spPr>
        <p:txBody>
          <a:bodyPr>
            <a:normAutofit/>
          </a:bodyPr>
          <a:lstStyle/>
          <a:p>
            <a:pPr algn="l"/>
            <a:r>
              <a:rPr lang="es-MX" sz="9600" b="1" dirty="0">
                <a:latin typeface="Bebas Neue" panose="020B0606020202050201" pitchFamily="34" charset="0"/>
              </a:rPr>
              <a:t>Crimen en Hermosillo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553ED5-2CB9-C046-09A9-01A5A7BDE5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8929" y="4292123"/>
            <a:ext cx="5889523" cy="869157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Un análisis basado en el registro de llamadas de reporte al servicio de emergencias 911</a:t>
            </a:r>
          </a:p>
        </p:txBody>
      </p:sp>
      <p:pic>
        <p:nvPicPr>
          <p:cNvPr id="7" name="Gráfico 6" descr="Policía hombre con relleno sólido">
            <a:extLst>
              <a:ext uri="{FF2B5EF4-FFF2-40B4-BE49-F238E27FC236}">
                <a16:creationId xmlns:a16="http://schemas.microsoft.com/office/drawing/2014/main" id="{25E2AA4F-41FE-E7EB-584C-D65456538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98021" y="1848465"/>
            <a:ext cx="5406445" cy="5406445"/>
          </a:xfrm>
          <a:prstGeom prst="rect">
            <a:avLst/>
          </a:prstGeom>
        </p:spPr>
      </p:pic>
      <p:pic>
        <p:nvPicPr>
          <p:cNvPr id="5" name="Gráfico 4" descr="Ladrón con relleno sólido">
            <a:extLst>
              <a:ext uri="{FF2B5EF4-FFF2-40B4-BE49-F238E27FC236}">
                <a16:creationId xmlns:a16="http://schemas.microsoft.com/office/drawing/2014/main" id="{5F85E180-67F6-69DD-B44E-8CB4AFEFD1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5921503" y="4588484"/>
            <a:ext cx="2084441" cy="2084441"/>
          </a:xfrm>
          <a:prstGeom prst="rect">
            <a:avLst/>
          </a:prstGeom>
        </p:spPr>
      </p:pic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762156-DC87-A169-E7A2-9BEA88DB47AC}"/>
              </a:ext>
            </a:extLst>
          </p:cNvPr>
          <p:cNvCxnSpPr>
            <a:cxnSpLocks/>
          </p:cNvCxnSpPr>
          <p:nvPr/>
        </p:nvCxnSpPr>
        <p:spPr>
          <a:xfrm>
            <a:off x="757084" y="4201806"/>
            <a:ext cx="6007510" cy="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Gráfico 8" descr="Altavoz de teléfono con relleno sólido">
            <a:extLst>
              <a:ext uri="{FF2B5EF4-FFF2-40B4-BE49-F238E27FC236}">
                <a16:creationId xmlns:a16="http://schemas.microsoft.com/office/drawing/2014/main" id="{72F1FF3B-96A6-3127-D791-B94859B7B9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8607" y="41352"/>
            <a:ext cx="2507492" cy="2507492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02C26D4A-50FD-53B9-F9A0-C7327212CD85}"/>
              </a:ext>
            </a:extLst>
          </p:cNvPr>
          <p:cNvSpPr txBox="1">
            <a:spLocks/>
          </p:cNvSpPr>
          <p:nvPr/>
        </p:nvSpPr>
        <p:spPr>
          <a:xfrm>
            <a:off x="664919" y="6228080"/>
            <a:ext cx="5889523" cy="4558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es-E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Joel Pérez / Esthefania Ortega / José Cazares / Marcel Herrera</a:t>
            </a:r>
          </a:p>
        </p:txBody>
      </p:sp>
    </p:spTree>
    <p:extLst>
      <p:ext uri="{BB962C8B-B14F-4D97-AF65-F5344CB8AC3E}">
        <p14:creationId xmlns:p14="http://schemas.microsoft.com/office/powerpoint/2010/main" val="69545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upo 31">
            <a:extLst>
              <a:ext uri="{FF2B5EF4-FFF2-40B4-BE49-F238E27FC236}">
                <a16:creationId xmlns:a16="http://schemas.microsoft.com/office/drawing/2014/main" id="{8D470145-DA20-6603-DDFB-689D7E0B59FA}"/>
              </a:ext>
            </a:extLst>
          </p:cNvPr>
          <p:cNvGrpSpPr/>
          <p:nvPr/>
        </p:nvGrpSpPr>
        <p:grpSpPr>
          <a:xfrm>
            <a:off x="6574057" y="2573963"/>
            <a:ext cx="5083516" cy="902787"/>
            <a:chOff x="6651284" y="1572867"/>
            <a:chExt cx="5083516" cy="902787"/>
          </a:xfrm>
          <a:solidFill>
            <a:srgbClr val="CC9900"/>
          </a:solidFill>
        </p:grpSpPr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2B547689-C12E-87A8-EF7C-FCB9131D7F34}"/>
                </a:ext>
              </a:extLst>
            </p:cNvPr>
            <p:cNvSpPr/>
            <p:nvPr/>
          </p:nvSpPr>
          <p:spPr>
            <a:xfrm>
              <a:off x="10834800" y="1575654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90505A00-5FEE-31D4-42EB-7CA4874303DC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5" name="Rectángulo 34">
              <a:extLst>
                <a:ext uri="{FF2B5EF4-FFF2-40B4-BE49-F238E27FC236}">
                  <a16:creationId xmlns:a16="http://schemas.microsoft.com/office/drawing/2014/main" id="{F2FA593D-62A1-918D-1D03-E7A3B333634A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CB1C3604-1195-9CD0-FC3D-FCBC01FAD4B8}"/>
              </a:ext>
            </a:extLst>
          </p:cNvPr>
          <p:cNvGrpSpPr/>
          <p:nvPr/>
        </p:nvGrpSpPr>
        <p:grpSpPr>
          <a:xfrm>
            <a:off x="6582459" y="3590410"/>
            <a:ext cx="5083516" cy="902787"/>
            <a:chOff x="6651284" y="1572867"/>
            <a:chExt cx="5083516" cy="902787"/>
          </a:xfrm>
          <a:solidFill>
            <a:srgbClr val="FF9900"/>
          </a:solidFill>
        </p:grpSpPr>
        <p:sp>
          <p:nvSpPr>
            <p:cNvPr id="37" name="Elipse 36">
              <a:extLst>
                <a:ext uri="{FF2B5EF4-FFF2-40B4-BE49-F238E27FC236}">
                  <a16:creationId xmlns:a16="http://schemas.microsoft.com/office/drawing/2014/main" id="{2A5389B8-E3FB-4A09-8BF6-F423BCF268E2}"/>
                </a:ext>
              </a:extLst>
            </p:cNvPr>
            <p:cNvSpPr/>
            <p:nvPr/>
          </p:nvSpPr>
          <p:spPr>
            <a:xfrm>
              <a:off x="10834800" y="1575654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8C4C37FB-5441-C262-9F6E-ED43A493E4C4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8B900E70-83E9-6308-CFE8-67DDE59B37E8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E436D7BC-DFA0-FB06-546B-FAA3CC1ED315}"/>
              </a:ext>
            </a:extLst>
          </p:cNvPr>
          <p:cNvGrpSpPr/>
          <p:nvPr/>
        </p:nvGrpSpPr>
        <p:grpSpPr>
          <a:xfrm>
            <a:off x="6582459" y="1593431"/>
            <a:ext cx="5083516" cy="902787"/>
            <a:chOff x="6651284" y="1572867"/>
            <a:chExt cx="5083516" cy="902787"/>
          </a:xfrm>
          <a:solidFill>
            <a:schemeClr val="accent2">
              <a:lumMod val="75000"/>
            </a:schemeClr>
          </a:solidFill>
        </p:grpSpPr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E3A0D11E-2EC9-AE71-2DEF-FDDA9D1E3BF1}"/>
                </a:ext>
              </a:extLst>
            </p:cNvPr>
            <p:cNvSpPr/>
            <p:nvPr/>
          </p:nvSpPr>
          <p:spPr>
            <a:xfrm>
              <a:off x="10834800" y="1575654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E5BAA6AB-35EF-3F83-616A-95857ED12C2C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8A9AD0D4-AC87-2C7D-C98A-AEA2BEB779A7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pic>
        <p:nvPicPr>
          <p:cNvPr id="9" name="Marcador de contenido 8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B7F2C80-DCD5-5CF6-7E2D-E90E28DDC3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67" y="1508071"/>
            <a:ext cx="6100493" cy="4845359"/>
          </a:xfr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20B8928-03FA-C5E8-F433-EC8B9AF83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s-MX" sz="5400" b="1" dirty="0">
                <a:latin typeface="Bebas Neue" panose="020B0606020202050201" pitchFamily="34" charset="0"/>
              </a:rPr>
              <a:t>¿Qué se reporta y cuándo?</a:t>
            </a:r>
          </a:p>
        </p:txBody>
      </p:sp>
      <p:pic>
        <p:nvPicPr>
          <p:cNvPr id="11" name="Gráfico 10" descr="Calendario giratorio con relleno sólido">
            <a:extLst>
              <a:ext uri="{FF2B5EF4-FFF2-40B4-BE49-F238E27FC236}">
                <a16:creationId xmlns:a16="http://schemas.microsoft.com/office/drawing/2014/main" id="{574831E8-8D2C-27E6-0F9D-D9904D344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08626" y="2568126"/>
            <a:ext cx="914400" cy="914400"/>
          </a:xfrm>
          <a:prstGeom prst="rect">
            <a:avLst/>
          </a:prstGeom>
        </p:spPr>
      </p:pic>
      <p:pic>
        <p:nvPicPr>
          <p:cNvPr id="13" name="Gráfico 12" descr="Reloj con relleno sólido">
            <a:extLst>
              <a:ext uri="{FF2B5EF4-FFF2-40B4-BE49-F238E27FC236}">
                <a16:creationId xmlns:a16="http://schemas.microsoft.com/office/drawing/2014/main" id="{0641ED8F-138A-55B9-0B7B-6C8C8E942D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65973" y="3590410"/>
            <a:ext cx="900000" cy="900000"/>
          </a:xfrm>
          <a:prstGeom prst="rect">
            <a:avLst/>
          </a:prstGeom>
        </p:spPr>
      </p:pic>
      <p:pic>
        <p:nvPicPr>
          <p:cNvPr id="16" name="Gráfico 15" descr="Baile con relleno sólido">
            <a:extLst>
              <a:ext uri="{FF2B5EF4-FFF2-40B4-BE49-F238E27FC236}">
                <a16:creationId xmlns:a16="http://schemas.microsoft.com/office/drawing/2014/main" id="{9F013633-CDAE-9648-FF45-D34EA11B43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18458" y="1606610"/>
            <a:ext cx="875622" cy="875622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90E54F62-5A47-C1A9-6394-A1167A2034DC}"/>
              </a:ext>
            </a:extLst>
          </p:cNvPr>
          <p:cNvSpPr txBox="1"/>
          <p:nvPr/>
        </p:nvSpPr>
        <p:spPr>
          <a:xfrm>
            <a:off x="6653595" y="1627093"/>
            <a:ext cx="17408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5400" dirty="0">
                <a:solidFill>
                  <a:schemeClr val="bg1"/>
                </a:solidFill>
                <a:latin typeface="Bebas Neue" panose="020B0606020202050201" pitchFamily="34" charset="0"/>
                <a:cs typeface="Arial" panose="020B0604020202020204" pitchFamily="34" charset="0"/>
              </a:rPr>
              <a:t>~50%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1C72A9C-D9BA-96F7-5E47-0E00FF631E79}"/>
              </a:ext>
            </a:extLst>
          </p:cNvPr>
          <p:cNvSpPr txBox="1"/>
          <p:nvPr/>
        </p:nvSpPr>
        <p:spPr>
          <a:xfrm>
            <a:off x="8023615" y="1633945"/>
            <a:ext cx="25332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bg1"/>
                </a:solidFill>
              </a:rPr>
              <a:t>de los reportes son de las categorías de </a:t>
            </a:r>
            <a:r>
              <a:rPr lang="es-MX" sz="1600" b="1" dirty="0">
                <a:solidFill>
                  <a:schemeClr val="bg1"/>
                </a:solidFill>
              </a:rPr>
              <a:t>convivencia</a:t>
            </a:r>
            <a:r>
              <a:rPr lang="es-MX" sz="1600" dirty="0">
                <a:solidFill>
                  <a:schemeClr val="bg1"/>
                </a:solidFill>
              </a:rPr>
              <a:t> y </a:t>
            </a:r>
            <a:r>
              <a:rPr lang="es-MX" sz="1600" b="1" dirty="0">
                <a:solidFill>
                  <a:schemeClr val="bg1"/>
                </a:solidFill>
              </a:rPr>
              <a:t>violencia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0C0E0606-86A4-E57B-219E-DC390248DEE9}"/>
              </a:ext>
            </a:extLst>
          </p:cNvPr>
          <p:cNvSpPr txBox="1"/>
          <p:nvPr/>
        </p:nvSpPr>
        <p:spPr>
          <a:xfrm>
            <a:off x="6636653" y="3610074"/>
            <a:ext cx="17408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5400" dirty="0">
                <a:solidFill>
                  <a:schemeClr val="bg1"/>
                </a:solidFill>
                <a:latin typeface="Bebas Neue" panose="020B0606020202050201" pitchFamily="34" charset="0"/>
                <a:cs typeface="Arial" panose="020B0604020202020204" pitchFamily="34" charset="0"/>
              </a:rPr>
              <a:t> 32%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B964A5E8-EDBC-1E1A-988A-098D0AC549A7}"/>
              </a:ext>
            </a:extLst>
          </p:cNvPr>
          <p:cNvSpPr txBox="1"/>
          <p:nvPr/>
        </p:nvSpPr>
        <p:spPr>
          <a:xfrm>
            <a:off x="7906209" y="3609074"/>
            <a:ext cx="2851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bg1"/>
                </a:solidFill>
              </a:rPr>
              <a:t>de los reportes se hacen por la </a:t>
            </a:r>
            <a:r>
              <a:rPr lang="es-MX" sz="1600" b="1" dirty="0">
                <a:solidFill>
                  <a:schemeClr val="bg1"/>
                </a:solidFill>
              </a:rPr>
              <a:t>noche</a:t>
            </a:r>
            <a:r>
              <a:rPr lang="es-MX" sz="1600" dirty="0">
                <a:solidFill>
                  <a:schemeClr val="bg1"/>
                </a:solidFill>
              </a:rPr>
              <a:t> (18:00– 23:59), seguido del 25.7% por la tarde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D57D2429-DE78-810E-1F5E-F4B8DDD7DA76}"/>
              </a:ext>
            </a:extLst>
          </p:cNvPr>
          <p:cNvSpPr txBox="1"/>
          <p:nvPr/>
        </p:nvSpPr>
        <p:spPr>
          <a:xfrm>
            <a:off x="6754176" y="2626763"/>
            <a:ext cx="3960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bg1"/>
                </a:solidFill>
              </a:rPr>
              <a:t>El </a:t>
            </a:r>
            <a:r>
              <a:rPr lang="es-MX" sz="1600" b="1" dirty="0">
                <a:solidFill>
                  <a:schemeClr val="bg1"/>
                </a:solidFill>
              </a:rPr>
              <a:t>domingo</a:t>
            </a:r>
            <a:r>
              <a:rPr lang="es-MX" sz="1600" dirty="0">
                <a:solidFill>
                  <a:schemeClr val="bg1"/>
                </a:solidFill>
              </a:rPr>
              <a:t> es el día de la semana </a:t>
            </a:r>
            <a:r>
              <a:rPr lang="es-MX" sz="1600" b="1" dirty="0">
                <a:solidFill>
                  <a:schemeClr val="bg1"/>
                </a:solidFill>
              </a:rPr>
              <a:t>más crítico</a:t>
            </a:r>
            <a:r>
              <a:rPr lang="es-MX" sz="1600" dirty="0">
                <a:solidFill>
                  <a:schemeClr val="bg1"/>
                </a:solidFill>
              </a:rPr>
              <a:t>, con la mayor cantidad de reportes, seguido por los días sábado.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94DD36C-1DE5-F6AB-7529-3381E59AC165}"/>
              </a:ext>
            </a:extLst>
          </p:cNvPr>
          <p:cNvSpPr txBox="1"/>
          <p:nvPr/>
        </p:nvSpPr>
        <p:spPr>
          <a:xfrm>
            <a:off x="10765975" y="2918994"/>
            <a:ext cx="614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>
                <a:solidFill>
                  <a:schemeClr val="bg1"/>
                </a:solidFill>
                <a:latin typeface="Bebas Neue" panose="020B0606020202050201" pitchFamily="34" charset="0"/>
              </a:rPr>
              <a:t>dOM</a:t>
            </a:r>
            <a:endParaRPr lang="es-MX" sz="2400" dirty="0">
              <a:solidFill>
                <a:schemeClr val="bg1"/>
              </a:solidFill>
              <a:latin typeface="Bebas Neue" panose="020B0606020202050201" pitchFamily="34" charset="0"/>
            </a:endParaRPr>
          </a:p>
        </p:txBody>
      </p:sp>
      <p:pic>
        <p:nvPicPr>
          <p:cNvPr id="47" name="Imagen 46">
            <a:extLst>
              <a:ext uri="{FF2B5EF4-FFF2-40B4-BE49-F238E27FC236}">
                <a16:creationId xmlns:a16="http://schemas.microsoft.com/office/drawing/2014/main" id="{DDE4101A-BA23-3AAB-5F09-7FFB3DF62D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5443" y="4687469"/>
            <a:ext cx="4930530" cy="1774090"/>
          </a:xfrm>
          <a:prstGeom prst="rect">
            <a:avLst/>
          </a:prstGeom>
        </p:spPr>
      </p:pic>
      <p:sp>
        <p:nvSpPr>
          <p:cNvPr id="48" name="CuadroTexto 47">
            <a:extLst>
              <a:ext uri="{FF2B5EF4-FFF2-40B4-BE49-F238E27FC236}">
                <a16:creationId xmlns:a16="http://schemas.microsoft.com/office/drawing/2014/main" id="{30B6FCB6-117F-6CF6-9880-233C5415E00D}"/>
              </a:ext>
            </a:extLst>
          </p:cNvPr>
          <p:cNvSpPr txBox="1"/>
          <p:nvPr/>
        </p:nvSpPr>
        <p:spPr>
          <a:xfrm>
            <a:off x="213360" y="6455776"/>
            <a:ext cx="119786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</a:rPr>
              <a:t>Fuente</a:t>
            </a:r>
            <a:r>
              <a:rPr lang="es-ES" sz="1000" dirty="0">
                <a:solidFill>
                  <a:schemeClr val="bg2">
                    <a:lumMod val="75000"/>
                  </a:schemeClr>
                </a:solidFill>
              </a:rPr>
              <a:t>: Plataforma Nacional de Transparencia. (2024). </a:t>
            </a:r>
            <a:r>
              <a:rPr lang="es-ES" sz="1000" i="1" dirty="0">
                <a:solidFill>
                  <a:schemeClr val="bg2">
                    <a:lumMod val="75000"/>
                  </a:schemeClr>
                </a:solidFill>
              </a:rPr>
              <a:t>Datos de reportes de llamadas de incidencias recibidas a través de llamadas telefónicas al número de emergencias 9-1-1 (2018-2025)</a:t>
            </a:r>
            <a:r>
              <a:rPr lang="es-ES" sz="1000" dirty="0">
                <a:solidFill>
                  <a:schemeClr val="bg2">
                    <a:lumMod val="75000"/>
                  </a:schemeClr>
                </a:solidFill>
              </a:rPr>
              <a:t>. [Solicitud de Transparencia Folio: 261156825000213]. Recuperado de https://www.plataformanacionaldetransparencia.org.mx</a:t>
            </a:r>
            <a:endParaRPr lang="es-MX" sz="10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5111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F083C-BE77-06D0-24FA-0ABF28665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s-MX" sz="5400" b="1" dirty="0">
                <a:latin typeface="Bebas Neue" panose="020B0606020202050201" pitchFamily="34" charset="0"/>
              </a:rPr>
              <a:t>¿Dónde hay más crimen?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B75C751F-2782-4BEB-B999-4DB1EA810C2A}"/>
              </a:ext>
            </a:extLst>
          </p:cNvPr>
          <p:cNvGrpSpPr/>
          <p:nvPr/>
        </p:nvGrpSpPr>
        <p:grpSpPr>
          <a:xfrm>
            <a:off x="6520287" y="3996253"/>
            <a:ext cx="5607694" cy="1610323"/>
            <a:chOff x="6301065" y="5194579"/>
            <a:chExt cx="5607694" cy="1610323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6C48E8FF-4782-C20B-FC97-2D14B06FF8E2}"/>
                </a:ext>
              </a:extLst>
            </p:cNvPr>
            <p:cNvGrpSpPr/>
            <p:nvPr/>
          </p:nvGrpSpPr>
          <p:grpSpPr>
            <a:xfrm>
              <a:off x="6301065" y="5194579"/>
              <a:ext cx="4903231" cy="1608186"/>
              <a:chOff x="6404304" y="1577131"/>
              <a:chExt cx="4625960" cy="900000"/>
            </a:xfrm>
            <a:solidFill>
              <a:schemeClr val="accent2">
                <a:lumMod val="75000"/>
              </a:schemeClr>
            </a:solidFill>
          </p:grpSpPr>
          <p:sp>
            <p:nvSpPr>
              <p:cNvPr id="21" name="Elipse 20">
                <a:extLst>
                  <a:ext uri="{FF2B5EF4-FFF2-40B4-BE49-F238E27FC236}">
                    <a16:creationId xmlns:a16="http://schemas.microsoft.com/office/drawing/2014/main" id="{392EB493-6079-F42C-E005-7020B29C5D5F}"/>
                  </a:ext>
                </a:extLst>
              </p:cNvPr>
              <p:cNvSpPr/>
              <p:nvPr/>
            </p:nvSpPr>
            <p:spPr>
              <a:xfrm>
                <a:off x="6404304" y="1579358"/>
                <a:ext cx="1352911" cy="89590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072EEDF1-FD38-B138-F279-4DD76DE33EF7}"/>
                  </a:ext>
                </a:extLst>
              </p:cNvPr>
              <p:cNvSpPr/>
              <p:nvPr/>
            </p:nvSpPr>
            <p:spPr>
              <a:xfrm>
                <a:off x="7091681" y="1577131"/>
                <a:ext cx="3938583" cy="90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8DD8F2F2-9FD4-E072-161B-64189D6AF876}"/>
                </a:ext>
              </a:extLst>
            </p:cNvPr>
            <p:cNvSpPr/>
            <p:nvPr/>
          </p:nvSpPr>
          <p:spPr>
            <a:xfrm>
              <a:off x="10474757" y="5196716"/>
              <a:ext cx="1434002" cy="1608186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B766020-A1AB-5C04-E841-A67F5732F03C}"/>
              </a:ext>
            </a:extLst>
          </p:cNvPr>
          <p:cNvSpPr txBox="1"/>
          <p:nvPr/>
        </p:nvSpPr>
        <p:spPr>
          <a:xfrm>
            <a:off x="6709440" y="4099521"/>
            <a:ext cx="527665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chemeClr val="bg1"/>
                </a:solidFill>
              </a:rPr>
              <a:t>La </a:t>
            </a:r>
            <a:r>
              <a:rPr lang="es-ES" sz="1600" b="1" dirty="0">
                <a:solidFill>
                  <a:schemeClr val="bg1"/>
                </a:solidFill>
              </a:rPr>
              <a:t>Zona Industrial / Parque Industrial</a:t>
            </a:r>
            <a:r>
              <a:rPr lang="es-ES" sz="1600" dirty="0">
                <a:solidFill>
                  <a:schemeClr val="bg1"/>
                </a:solidFill>
              </a:rPr>
              <a:t> presenta una </a:t>
            </a:r>
            <a:r>
              <a:rPr lang="es-ES" sz="1600" b="1" dirty="0">
                <a:solidFill>
                  <a:schemeClr val="bg1"/>
                </a:solidFill>
              </a:rPr>
              <a:t>tasa de criminalidad muy elevada </a:t>
            </a:r>
            <a:r>
              <a:rPr lang="es-ES" sz="1600" dirty="0">
                <a:solidFill>
                  <a:schemeClr val="bg1"/>
                </a:solidFill>
              </a:rPr>
              <a:t>ya que tiene pocos habitantes, pero muchos incidentes, principalmente: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/>
                </a:solidFill>
              </a:rPr>
              <a:t>Robo a establecimientos 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/>
                </a:solidFill>
              </a:rPr>
              <a:t>Robo de vehículos 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/>
                </a:solidFill>
              </a:rPr>
              <a:t>Incidentes asociados a actividad comercial y logística</a:t>
            </a:r>
          </a:p>
          <a:p>
            <a:endParaRPr lang="es-MX" sz="1600" b="1" dirty="0">
              <a:solidFill>
                <a:schemeClr val="bg1"/>
              </a:solidFill>
            </a:endParaRPr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720D7C02-E0A8-5A6F-D61A-3026ED98B976}"/>
              </a:ext>
            </a:extLst>
          </p:cNvPr>
          <p:cNvGrpSpPr/>
          <p:nvPr/>
        </p:nvGrpSpPr>
        <p:grpSpPr>
          <a:xfrm>
            <a:off x="6520677" y="1804143"/>
            <a:ext cx="5607694" cy="1720346"/>
            <a:chOff x="356926" y="5127582"/>
            <a:chExt cx="5607694" cy="1720346"/>
          </a:xfrm>
          <a:solidFill>
            <a:srgbClr val="C00000"/>
          </a:solidFill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97CA0F7F-08A0-ABFF-6B11-E6F62C48DEA1}"/>
                </a:ext>
              </a:extLst>
            </p:cNvPr>
            <p:cNvGrpSpPr/>
            <p:nvPr/>
          </p:nvGrpSpPr>
          <p:grpSpPr>
            <a:xfrm>
              <a:off x="356926" y="5127582"/>
              <a:ext cx="5607694" cy="1611531"/>
              <a:chOff x="6301065" y="5191237"/>
              <a:chExt cx="5607694" cy="1611531"/>
            </a:xfrm>
            <a:grpFill/>
          </p:grpSpPr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CA4A40DA-4C5D-FAC4-CEF6-106BD65AFDC8}"/>
                  </a:ext>
                </a:extLst>
              </p:cNvPr>
              <p:cNvGrpSpPr/>
              <p:nvPr/>
            </p:nvGrpSpPr>
            <p:grpSpPr>
              <a:xfrm>
                <a:off x="6301065" y="5194581"/>
                <a:ext cx="4903231" cy="1608187"/>
                <a:chOff x="6404304" y="1577131"/>
                <a:chExt cx="4625960" cy="900000"/>
              </a:xfrm>
              <a:grpFill/>
            </p:grpSpPr>
            <p:sp>
              <p:nvSpPr>
                <p:cNvPr id="30" name="Elipse 29">
                  <a:extLst>
                    <a:ext uri="{FF2B5EF4-FFF2-40B4-BE49-F238E27FC236}">
                      <a16:creationId xmlns:a16="http://schemas.microsoft.com/office/drawing/2014/main" id="{1FB4A676-E01E-FBCB-27AC-A7F9F367F3BE}"/>
                    </a:ext>
                  </a:extLst>
                </p:cNvPr>
                <p:cNvSpPr/>
                <p:nvPr/>
              </p:nvSpPr>
              <p:spPr>
                <a:xfrm>
                  <a:off x="6404304" y="1578382"/>
                  <a:ext cx="1352911" cy="895903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MX" dirty="0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7F2B72E8-CCE1-AB08-E2FB-768242385841}"/>
                    </a:ext>
                  </a:extLst>
                </p:cNvPr>
                <p:cNvSpPr/>
                <p:nvPr/>
              </p:nvSpPr>
              <p:spPr>
                <a:xfrm>
                  <a:off x="7091681" y="1577131"/>
                  <a:ext cx="3938583" cy="900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MX" dirty="0"/>
                </a:p>
              </p:txBody>
            </p:sp>
          </p:grpSp>
          <p:sp>
            <p:nvSpPr>
              <p:cNvPr id="29" name="Elipse 28">
                <a:extLst>
                  <a:ext uri="{FF2B5EF4-FFF2-40B4-BE49-F238E27FC236}">
                    <a16:creationId xmlns:a16="http://schemas.microsoft.com/office/drawing/2014/main" id="{124854F1-4AC7-23AF-55A9-AAC7F857AF5E}"/>
                  </a:ext>
                </a:extLst>
              </p:cNvPr>
              <p:cNvSpPr/>
              <p:nvPr/>
            </p:nvSpPr>
            <p:spPr>
              <a:xfrm>
                <a:off x="10474757" y="5191237"/>
                <a:ext cx="1434002" cy="16081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91B1E793-19E7-BDA2-0DBE-8C53FCB5CF60}"/>
                </a:ext>
              </a:extLst>
            </p:cNvPr>
            <p:cNvSpPr txBox="1"/>
            <p:nvPr/>
          </p:nvSpPr>
          <p:spPr>
            <a:xfrm>
              <a:off x="579593" y="5278268"/>
              <a:ext cx="5276652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dirty="0">
                  <a:solidFill>
                    <a:schemeClr val="bg1"/>
                  </a:solidFill>
                </a:rPr>
                <a:t>El </a:t>
              </a:r>
              <a:r>
                <a:rPr lang="es-ES" sz="1600" b="1" dirty="0">
                  <a:solidFill>
                    <a:schemeClr val="bg1"/>
                  </a:solidFill>
                </a:rPr>
                <a:t>Centro</a:t>
              </a:r>
              <a:r>
                <a:rPr lang="es-ES" sz="1600" dirty="0">
                  <a:solidFill>
                    <a:schemeClr val="bg1"/>
                  </a:solidFill>
                </a:rPr>
                <a:t> de Hermosillo concentra la mayor cantidad de incidentes reportados, triplicando prácticamente el volumen del segundo lugar. Esto puede deberse a su</a:t>
              </a:r>
              <a:r>
                <a:rPr lang="es-ES" sz="1600" b="1" dirty="0">
                  <a:solidFill>
                    <a:schemeClr val="bg1"/>
                  </a:solidFill>
                </a:rPr>
                <a:t> alta densidad poblacional y comercial, </a:t>
              </a:r>
              <a:r>
                <a:rPr lang="es-ES" sz="1600" dirty="0">
                  <a:solidFill>
                    <a:schemeClr val="bg1"/>
                  </a:solidFill>
                </a:rPr>
                <a:t>así como su </a:t>
              </a:r>
              <a:r>
                <a:rPr lang="es-ES" sz="1600" b="1" dirty="0">
                  <a:solidFill>
                    <a:schemeClr val="bg1"/>
                  </a:solidFill>
                </a:rPr>
                <a:t>afluencia </a:t>
              </a:r>
              <a:r>
                <a:rPr lang="es-ES" sz="1600" dirty="0">
                  <a:solidFill>
                    <a:schemeClr val="bg1"/>
                  </a:solidFill>
                </a:rPr>
                <a:t>por ser zona urbana central.</a:t>
              </a:r>
            </a:p>
            <a:p>
              <a:endParaRPr lang="es-MX" sz="16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34" name="Imagen 33">
            <a:extLst>
              <a:ext uri="{FF2B5EF4-FFF2-40B4-BE49-F238E27FC236}">
                <a16:creationId xmlns:a16="http://schemas.microsoft.com/office/drawing/2014/main" id="{064963AB-2BEB-D377-8BD9-D6ED3CA36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56" y="1593948"/>
            <a:ext cx="6174787" cy="2028576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8A5CB232-D6B5-A969-A801-6FD617986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9" y="3876500"/>
            <a:ext cx="6314379" cy="1938278"/>
          </a:xfrm>
          <a:prstGeom prst="rect">
            <a:avLst/>
          </a:prstGeom>
        </p:spPr>
      </p:pic>
      <p:sp>
        <p:nvSpPr>
          <p:cNvPr id="41" name="CuadroTexto 40">
            <a:extLst>
              <a:ext uri="{FF2B5EF4-FFF2-40B4-BE49-F238E27FC236}">
                <a16:creationId xmlns:a16="http://schemas.microsoft.com/office/drawing/2014/main" id="{A127032D-204D-2283-BA7E-84DA80DEDFB9}"/>
              </a:ext>
            </a:extLst>
          </p:cNvPr>
          <p:cNvSpPr txBox="1"/>
          <p:nvPr/>
        </p:nvSpPr>
        <p:spPr>
          <a:xfrm>
            <a:off x="213360" y="6150169"/>
            <a:ext cx="1197864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b="1" dirty="0">
                <a:solidFill>
                  <a:schemeClr val="bg2">
                    <a:lumMod val="75000"/>
                  </a:schemeClr>
                </a:solidFill>
              </a:rPr>
              <a:t>Fuente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: Plataforma Nacional de Transparencia. (2024). </a:t>
            </a:r>
            <a:r>
              <a:rPr lang="es-ES" sz="900" i="1" dirty="0">
                <a:solidFill>
                  <a:schemeClr val="bg2">
                    <a:lumMod val="75000"/>
                  </a:schemeClr>
                </a:solidFill>
              </a:rPr>
              <a:t>Datos de reportes de llamadas de incidencias recibidas a través de llamadas telefónicas al número de emergencias 9-1-1 (2018-2025)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. [Solicitud de Transparencia Folio: 261156825000213]. Recuperado de 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  <a:hlinkClick r:id="rId4"/>
              </a:rPr>
              <a:t>https://www.plataformanacionaldetransparencia.org.mx</a:t>
            </a:r>
            <a:endParaRPr lang="es-ES" sz="9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Sonora en Datos. (2020). </a:t>
            </a:r>
            <a:r>
              <a:rPr lang="es-ES" sz="900" dirty="0" err="1">
                <a:solidFill>
                  <a:schemeClr val="bg2">
                    <a:lumMod val="75000"/>
                  </a:schemeClr>
                </a:solidFill>
              </a:rPr>
              <a:t>ColoniasSonora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: Mapa interactivo de las colonias de Sonora. [Repositorio de GitHub y Mapa Web]. Recuperado de https://sonora-en-datos.github.io/ColoniasSonora/. De esta fuente se obtuvieron los polígonos geoespaciales y la información demográfica del Censo 2020 utilizada en este análisis.</a:t>
            </a:r>
          </a:p>
          <a:p>
            <a:endParaRPr lang="es-MX" sz="9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290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18635E-4C19-5B15-3FFD-AC662CA58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s-MX" sz="5400" b="1" dirty="0">
                <a:latin typeface="Bebas Neue" panose="020B0606020202050201" pitchFamily="34" charset="0"/>
              </a:rPr>
              <a:t>¿Hay algún indicador de criminalidad?</a:t>
            </a:r>
          </a:p>
        </p:txBody>
      </p:sp>
      <p:pic>
        <p:nvPicPr>
          <p:cNvPr id="4" name="Marcador de contenido 3" descr="Gráfico, Gráfico de barras, Gráfico en cascada&#10;&#10;El contenido generado por IA puede ser incorrecto.">
            <a:extLst>
              <a:ext uri="{FF2B5EF4-FFF2-40B4-BE49-F238E27FC236}">
                <a16:creationId xmlns:a16="http://schemas.microsoft.com/office/drawing/2014/main" id="{E467C4DC-36ED-E9DC-B50E-967D3F06E1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90" y="1690688"/>
            <a:ext cx="6582697" cy="4351338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9CB43D8E-EE36-4F3D-AD02-93B4D0240BBB}"/>
              </a:ext>
            </a:extLst>
          </p:cNvPr>
          <p:cNvGrpSpPr/>
          <p:nvPr/>
        </p:nvGrpSpPr>
        <p:grpSpPr>
          <a:xfrm>
            <a:off x="6892687" y="2113464"/>
            <a:ext cx="5083516" cy="902787"/>
            <a:chOff x="6651284" y="1572867"/>
            <a:chExt cx="5083516" cy="902787"/>
          </a:xfrm>
          <a:solidFill>
            <a:schemeClr val="tx2">
              <a:lumMod val="90000"/>
              <a:lumOff val="10000"/>
            </a:schemeClr>
          </a:solidFill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5ECC65DF-A7CE-F5E4-5A93-977D24C57AAE}"/>
                </a:ext>
              </a:extLst>
            </p:cNvPr>
            <p:cNvSpPr/>
            <p:nvPr/>
          </p:nvSpPr>
          <p:spPr>
            <a:xfrm>
              <a:off x="10834800" y="1575654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12EFE254-15FC-5313-5BA3-3321A926C712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497E4795-6ABC-801A-EC53-9465995A5FF8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1CD4FB5C-49CE-797E-8FE7-8E9E02AE3B1D}"/>
              </a:ext>
            </a:extLst>
          </p:cNvPr>
          <p:cNvGrpSpPr/>
          <p:nvPr/>
        </p:nvGrpSpPr>
        <p:grpSpPr>
          <a:xfrm>
            <a:off x="6892687" y="3172684"/>
            <a:ext cx="5083516" cy="902787"/>
            <a:chOff x="6651284" y="1572867"/>
            <a:chExt cx="5083516" cy="902787"/>
          </a:xfrm>
          <a:solidFill>
            <a:schemeClr val="tx2">
              <a:lumMod val="75000"/>
              <a:lumOff val="25000"/>
            </a:schemeClr>
          </a:solidFill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BC842E72-264B-1B96-73D1-52EDBA498538}"/>
                </a:ext>
              </a:extLst>
            </p:cNvPr>
            <p:cNvSpPr/>
            <p:nvPr/>
          </p:nvSpPr>
          <p:spPr>
            <a:xfrm>
              <a:off x="10834800" y="1575654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4B2162B0-7300-B859-3E20-70F8CE3B3369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1C836883-5639-1D64-A316-577B5C976165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B588ACE4-EE19-2B3E-062E-91EECAF200E6}"/>
              </a:ext>
            </a:extLst>
          </p:cNvPr>
          <p:cNvGrpSpPr/>
          <p:nvPr/>
        </p:nvGrpSpPr>
        <p:grpSpPr>
          <a:xfrm>
            <a:off x="6892687" y="4264525"/>
            <a:ext cx="5083516" cy="901760"/>
            <a:chOff x="6651284" y="1572867"/>
            <a:chExt cx="5083516" cy="901760"/>
          </a:xfrm>
          <a:solidFill>
            <a:srgbClr val="00B050"/>
          </a:solidFill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94A821E2-92B7-5644-650C-5EEEE82B7E14}"/>
                </a:ext>
              </a:extLst>
            </p:cNvPr>
            <p:cNvSpPr/>
            <p:nvPr/>
          </p:nvSpPr>
          <p:spPr>
            <a:xfrm>
              <a:off x="10834800" y="1575654"/>
              <a:ext cx="900000" cy="897213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05906AA0-15B8-28C0-68B4-E9D7B0DD3125}"/>
                </a:ext>
              </a:extLst>
            </p:cNvPr>
            <p:cNvSpPr/>
            <p:nvPr/>
          </p:nvSpPr>
          <p:spPr>
            <a:xfrm>
              <a:off x="6651284" y="1574627"/>
              <a:ext cx="900000" cy="900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5505FCD2-F7BF-B053-C54D-B4C4683A0EF0}"/>
                </a:ext>
              </a:extLst>
            </p:cNvPr>
            <p:cNvSpPr/>
            <p:nvPr/>
          </p:nvSpPr>
          <p:spPr>
            <a:xfrm>
              <a:off x="7091680" y="1572867"/>
              <a:ext cx="4185920" cy="90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0A69B5A-3B7D-56B7-64E7-E0F46F3FE901}"/>
              </a:ext>
            </a:extLst>
          </p:cNvPr>
          <p:cNvSpPr txBox="1"/>
          <p:nvPr/>
        </p:nvSpPr>
        <p:spPr>
          <a:xfrm>
            <a:off x="7965434" y="2159573"/>
            <a:ext cx="38152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bg1"/>
                </a:solidFill>
              </a:rPr>
              <a:t>El </a:t>
            </a:r>
            <a:r>
              <a:rPr lang="es-MX" sz="1600" b="1" dirty="0">
                <a:solidFill>
                  <a:schemeClr val="bg1"/>
                </a:solidFill>
              </a:rPr>
              <a:t>mayor indicador </a:t>
            </a:r>
            <a:r>
              <a:rPr lang="es-MX" sz="1600" dirty="0">
                <a:solidFill>
                  <a:schemeClr val="bg1"/>
                </a:solidFill>
              </a:rPr>
              <a:t>es geográfico – </a:t>
            </a:r>
          </a:p>
          <a:p>
            <a:r>
              <a:rPr lang="es-MX" sz="1600" b="1" dirty="0">
                <a:solidFill>
                  <a:schemeClr val="bg1"/>
                </a:solidFill>
              </a:rPr>
              <a:t>área (km</a:t>
            </a:r>
            <a:r>
              <a:rPr lang="es-MX" sz="1600" b="1" baseline="30000" dirty="0">
                <a:solidFill>
                  <a:schemeClr val="bg1"/>
                </a:solidFill>
              </a:rPr>
              <a:t>2</a:t>
            </a:r>
            <a:r>
              <a:rPr lang="es-MX" sz="1600" b="1" dirty="0">
                <a:solidFill>
                  <a:schemeClr val="bg1"/>
                </a:solidFill>
              </a:rPr>
              <a:t>) </a:t>
            </a:r>
            <a:r>
              <a:rPr lang="es-MX" sz="1600" dirty="0">
                <a:solidFill>
                  <a:schemeClr val="bg1"/>
                </a:solidFill>
              </a:rPr>
              <a:t>muestra una alta correlación con la tasa de alta severidad en reportes</a:t>
            </a:r>
          </a:p>
        </p:txBody>
      </p:sp>
      <p:pic>
        <p:nvPicPr>
          <p:cNvPr id="18" name="Gráfico 17" descr="Mapa con marcador con relleno sólido">
            <a:extLst>
              <a:ext uri="{FF2B5EF4-FFF2-40B4-BE49-F238E27FC236}">
                <a16:creationId xmlns:a16="http://schemas.microsoft.com/office/drawing/2014/main" id="{6232E9F8-FE43-D22A-4723-923A71B96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1394" y="2077082"/>
            <a:ext cx="914400" cy="914400"/>
          </a:xfrm>
          <a:prstGeom prst="rect">
            <a:avLst/>
          </a:prstGeom>
        </p:spPr>
      </p:pic>
      <p:pic>
        <p:nvPicPr>
          <p:cNvPr id="20" name="Gráfico 19" descr="Birrete con relleno sólido">
            <a:extLst>
              <a:ext uri="{FF2B5EF4-FFF2-40B4-BE49-F238E27FC236}">
                <a16:creationId xmlns:a16="http://schemas.microsoft.com/office/drawing/2014/main" id="{68DC5688-A891-ADD9-F19D-BDC96DF177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51034" y="3164007"/>
            <a:ext cx="914400" cy="914400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12A1D7E8-4391-FE17-A1AB-CBC79EEA72B6}"/>
              </a:ext>
            </a:extLst>
          </p:cNvPr>
          <p:cNvSpPr txBox="1"/>
          <p:nvPr/>
        </p:nvSpPr>
        <p:spPr>
          <a:xfrm>
            <a:off x="7951034" y="3208092"/>
            <a:ext cx="397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bg1"/>
                </a:solidFill>
              </a:rPr>
              <a:t>La </a:t>
            </a:r>
            <a:r>
              <a:rPr lang="es-MX" sz="1600" b="1" dirty="0">
                <a:solidFill>
                  <a:schemeClr val="bg1"/>
                </a:solidFill>
              </a:rPr>
              <a:t>escolaridad</a:t>
            </a:r>
            <a:r>
              <a:rPr lang="es-MX" sz="1600" dirty="0">
                <a:solidFill>
                  <a:schemeClr val="bg1"/>
                </a:solidFill>
              </a:rPr>
              <a:t> promedio tiene una correlación negativa débil, </a:t>
            </a:r>
            <a:r>
              <a:rPr lang="es-MX" sz="1600" b="1" dirty="0">
                <a:solidFill>
                  <a:schemeClr val="bg1"/>
                </a:solidFill>
              </a:rPr>
              <a:t>no es un factor determinante</a:t>
            </a:r>
            <a:r>
              <a:rPr lang="es-MX" sz="1600" dirty="0">
                <a:solidFill>
                  <a:schemeClr val="bg1"/>
                </a:solidFill>
              </a:rPr>
              <a:t> de criminalidad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F98E710-525B-D37D-8A61-69DFA9CF825E}"/>
              </a:ext>
            </a:extLst>
          </p:cNvPr>
          <p:cNvSpPr txBox="1"/>
          <p:nvPr/>
        </p:nvSpPr>
        <p:spPr>
          <a:xfrm>
            <a:off x="7965434" y="4299026"/>
            <a:ext cx="397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bg1"/>
                </a:solidFill>
              </a:rPr>
              <a:t>Las correlaciones débiles</a:t>
            </a:r>
            <a:r>
              <a:rPr lang="es-ES" sz="1600" dirty="0">
                <a:solidFill>
                  <a:schemeClr val="bg1"/>
                </a:solidFill>
              </a:rPr>
              <a:t> sugieren que las causas de criminalidad son </a:t>
            </a:r>
            <a:r>
              <a:rPr lang="es-ES" sz="1600" b="1" dirty="0">
                <a:solidFill>
                  <a:schemeClr val="bg1"/>
                </a:solidFill>
              </a:rPr>
              <a:t>multifactoriales</a:t>
            </a:r>
            <a:r>
              <a:rPr lang="es-ES" sz="1600" dirty="0">
                <a:solidFill>
                  <a:schemeClr val="bg1"/>
                </a:solidFill>
              </a:rPr>
              <a:t>, no solo demográficas</a:t>
            </a:r>
          </a:p>
        </p:txBody>
      </p:sp>
      <p:pic>
        <p:nvPicPr>
          <p:cNvPr id="24" name="Gráfico 23" descr="Red con relleno sólido">
            <a:extLst>
              <a:ext uri="{FF2B5EF4-FFF2-40B4-BE49-F238E27FC236}">
                <a16:creationId xmlns:a16="http://schemas.microsoft.com/office/drawing/2014/main" id="{5BF28E69-C820-CE14-3B82-DF8C447AC4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36634" y="4240885"/>
            <a:ext cx="914400" cy="914400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CD2E716A-6F11-AA09-6EA1-1EFD85C152BA}"/>
              </a:ext>
            </a:extLst>
          </p:cNvPr>
          <p:cNvSpPr txBox="1"/>
          <p:nvPr/>
        </p:nvSpPr>
        <p:spPr>
          <a:xfrm>
            <a:off x="213360" y="6150169"/>
            <a:ext cx="1197864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b="1" dirty="0">
                <a:solidFill>
                  <a:schemeClr val="bg2">
                    <a:lumMod val="75000"/>
                  </a:schemeClr>
                </a:solidFill>
              </a:rPr>
              <a:t>Fuente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: Plataforma Nacional de Transparencia. (2024). </a:t>
            </a:r>
            <a:r>
              <a:rPr lang="es-ES" sz="900" i="1" dirty="0">
                <a:solidFill>
                  <a:schemeClr val="bg2">
                    <a:lumMod val="75000"/>
                  </a:schemeClr>
                </a:solidFill>
              </a:rPr>
              <a:t>Datos de reportes de llamadas de incidencias recibidas a través de llamadas telefónicas al número de emergencias 9-1-1 (2018-2025)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. [Solicitud de Transparencia Folio: 261156825000213]. Recuperado de 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  <a:hlinkClick r:id="rId9"/>
              </a:rPr>
              <a:t>https://www.plataformanacionaldetransparencia.org.mx</a:t>
            </a:r>
            <a:endParaRPr lang="es-ES" sz="9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Sonora en Datos. (2020). </a:t>
            </a:r>
            <a:r>
              <a:rPr lang="es-ES" sz="900" dirty="0" err="1">
                <a:solidFill>
                  <a:schemeClr val="bg2">
                    <a:lumMod val="75000"/>
                  </a:schemeClr>
                </a:solidFill>
              </a:rPr>
              <a:t>ColoniasSonora</a:t>
            </a:r>
            <a:r>
              <a:rPr lang="es-ES" sz="900" dirty="0">
                <a:solidFill>
                  <a:schemeClr val="bg2">
                    <a:lumMod val="75000"/>
                  </a:schemeClr>
                </a:solidFill>
              </a:rPr>
              <a:t>: Mapa interactivo de las colonias de Sonora. [Repositorio de GitHub y Mapa Web]. Recuperado de https://sonora-en-datos.github.io/ColoniasSonora/. De esta fuente se obtuvieron los polígonos geoespaciales y la información demográfica del Censo 2020 utilizada en este análisis.</a:t>
            </a:r>
          </a:p>
          <a:p>
            <a:endParaRPr lang="es-MX" sz="9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51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Imagen en blanco y negro de una torre&#10;&#10;El contenido generado por IA puede ser incorrecto.">
            <a:extLst>
              <a:ext uri="{FF2B5EF4-FFF2-40B4-BE49-F238E27FC236}">
                <a16:creationId xmlns:a16="http://schemas.microsoft.com/office/drawing/2014/main" id="{EE67A650-5DC5-B002-9E04-B97E536B5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3" t="21334" r="18388" b="25542"/>
          <a:stretch>
            <a:fillRect/>
          </a:stretch>
        </p:blipFill>
        <p:spPr>
          <a:xfrm>
            <a:off x="6392908" y="3616960"/>
            <a:ext cx="5799092" cy="324104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D9A23DF-20CB-357D-D1EC-1B68ED6AF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5400" b="1" dirty="0">
                <a:latin typeface="Bebas Neue" panose="020B0606020202050201" pitchFamily="34" charset="0"/>
              </a:rPr>
              <a:t>Recomendaciones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BE3964D-4035-B67C-2EE4-6F3DD2CA0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00"/>
            <a:ext cx="10515600" cy="4879975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Inversión en programas de justicia cívica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y unidades de resolución de conflictos vecinales para liberar recursos policiales.</a:t>
            </a:r>
          </a:p>
          <a:p>
            <a:pPr>
              <a:lnSpc>
                <a:spcPct val="120000"/>
              </a:lnSpc>
            </a:pP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Priorizar y robustece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r las unidades especializadas en la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atención de la violencia interpersonal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 (familiar y de género)</a:t>
            </a:r>
          </a:p>
          <a:p>
            <a:pPr>
              <a:lnSpc>
                <a:spcPct val="120000"/>
              </a:lnSpc>
            </a:pP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Prioridad geográfica -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asignación de patrullaje basada en la cobertura geográfica</a:t>
            </a:r>
          </a:p>
          <a:p>
            <a:pPr>
              <a:lnSpc>
                <a:spcPct val="120000"/>
              </a:lnSpc>
            </a:pP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Refuerzo a turnos de patrullaje nocturnos y de fin de semana</a:t>
            </a:r>
          </a:p>
          <a:p>
            <a:pPr>
              <a:lnSpc>
                <a:spcPct val="120000"/>
              </a:lnSpc>
            </a:pP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Desarrollo de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estrategia de seguridad comercial y logística 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enfocada en el robo de vehículos y negocios </a:t>
            </a:r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para zonas industriales</a:t>
            </a:r>
            <a:endParaRPr lang="es-MX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MX" sz="5400" b="1" dirty="0">
                <a:latin typeface="Bebas Neue" panose="020B0606020202050201" pitchFamily="34" charset="0"/>
              </a:rPr>
              <a:t>próximos pasos</a:t>
            </a:r>
            <a:endParaRPr lang="es-MX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Estratificar análisis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Separar zonas industriales de residenciales para obtener mejores resultados</a:t>
            </a:r>
          </a:p>
          <a:p>
            <a:pPr>
              <a:lnSpc>
                <a:spcPct val="120000"/>
              </a:lnSpc>
            </a:pP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Agrupar colonias similares para políticas públicas diferenciadas</a:t>
            </a:r>
          </a:p>
          <a:p>
            <a:pPr>
              <a:lnSpc>
                <a:spcPct val="120000"/>
              </a:lnSpc>
            </a:pP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Predicción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Modelar tasa de incidencia usando variables demográficas</a:t>
            </a:r>
          </a:p>
          <a:p>
            <a:pPr>
              <a:lnSpc>
                <a:spcPct val="120000"/>
              </a:lnSpc>
            </a:pP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Análisis geoespacial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Detectar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clusters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geográficos (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hotspots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endParaRPr lang="es-MX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6326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627</Words>
  <Application>Microsoft Office PowerPoint</Application>
  <PresentationFormat>Panorámica</PresentationFormat>
  <Paragraphs>37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Bebas Neue</vt:lpstr>
      <vt:lpstr>Tema de Office</vt:lpstr>
      <vt:lpstr>Crimen en Hermosillo</vt:lpstr>
      <vt:lpstr>¿Qué se reporta y cuándo?</vt:lpstr>
      <vt:lpstr>¿Dónde hay más crimen?</vt:lpstr>
      <vt:lpstr>¿Hay algún indicador de criminalidad?</vt:lpstr>
      <vt:lpstr>Recomendaciones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ESTHEFANIA ORTEGA TANORI</dc:creator>
  <cp:lastModifiedBy>ESTHEFANIA ORTEGA TANORI</cp:lastModifiedBy>
  <cp:revision>3</cp:revision>
  <dcterms:created xsi:type="dcterms:W3CDTF">2025-11-11T02:36:45Z</dcterms:created>
  <dcterms:modified xsi:type="dcterms:W3CDTF">2025-11-19T06:19:19Z</dcterms:modified>
</cp:coreProperties>
</file>